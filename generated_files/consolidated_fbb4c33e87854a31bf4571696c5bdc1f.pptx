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2.xml"/><Relationship Id="rId14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microsoft.com/office/2007/relationships/hdphoto" Target="../media/hdphoto3.wdp"/><Relationship Id="rId8" Type="http://schemas.openxmlformats.org/officeDocument/2006/relationships/image" Target="../media/image4.png"/><Relationship Id="rId9" Type="http://schemas.microsoft.com/office/2007/relationships/hdphoto" Target="../media/hdphoto4.wdp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Minimize communication delays between stakeholders
Streamline interview scheduling and feedback loops
Accelerate the decision-making lifecycle
Improve responsiveness to high-potential talent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Leverage internal talent pools and databases
Reduce reliance on expensive external agencies
Optimize sourcing through employee referral programs
Lower per-candidate acquisition expenses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Integrate electronic candidate screening protocols
Apply standardized online application assessments
Filter applicants based on core competencies
Ensure better cultural and technical matching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Automate manual administrative workflows
Eliminate the need for printed documentation
Centralize data within an applicant tracking system
Standardize procedures for consistent results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3" name="Picture 192" descr="tim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4" name="Picture 193" descr="symbol_eur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5" name="Picture 194" descr="star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6" name="Picture 195" descr="document_gea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Minimize communication delays between stakeholders
Streamline interview scheduling and feedback loops
Accelerate the decision-making lifecycle
Improve responsiveness to high-potential talent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Leverage internal talent pools and databases
Reduce reliance on expensive external agencies
Optimize sourcing through employee referral programs
Lower per-candidate acquisition expenses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Integrate electronic candidate screening protocols
Apply standardized online application assessments
Filter applicants based on core competencies
Ensure better cultural and technical matching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Automate manual administrative workflows
Eliminate the need for printed documentation
Centralize data within an applicant tracking system
Standardize procedures for consistent results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0" name="Picture 18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1" name="Picture 19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0A6C4B8-3BA8-0111-2DD8-A7D550CF706D}"/>
              </a:ext>
            </a:extLst>
          </p:cNvPr>
          <p:cNvSpPr/>
          <p:nvPr/>
        </p:nvSpPr>
        <p:spPr>
          <a:xfrm>
            <a:off x="499104" y="2122465"/>
            <a:ext cx="3064119" cy="2905588"/>
          </a:xfrm>
          <a:custGeom>
            <a:avLst/>
            <a:gdLst>
              <a:gd name="connsiteX0" fmla="*/ 2600390 w 3064119"/>
              <a:gd name="connsiteY0" fmla="*/ 2905508 h 2905588"/>
              <a:gd name="connsiteX1" fmla="*/ 36421 w 3064119"/>
              <a:gd name="connsiteY1" fmla="*/ 2905508 h 2905588"/>
              <a:gd name="connsiteX2" fmla="*/ -51 w 3064119"/>
              <a:gd name="connsiteY2" fmla="*/ 2869036 h 2905588"/>
              <a:gd name="connsiteX3" fmla="*/ -51 w 3064119"/>
              <a:gd name="connsiteY3" fmla="*/ 36391 h 2905588"/>
              <a:gd name="connsiteX4" fmla="*/ 36421 w 3064119"/>
              <a:gd name="connsiteY4" fmla="*/ -81 h 2905588"/>
              <a:gd name="connsiteX5" fmla="*/ 2600390 w 3064119"/>
              <a:gd name="connsiteY5" fmla="*/ -81 h 2905588"/>
              <a:gd name="connsiteX6" fmla="*/ 2636862 w 3064119"/>
              <a:gd name="connsiteY6" fmla="*/ 36391 h 2905588"/>
              <a:gd name="connsiteX7" fmla="*/ 2636862 w 3064119"/>
              <a:gd name="connsiteY7" fmla="*/ 838771 h 2905588"/>
              <a:gd name="connsiteX8" fmla="*/ 3057503 w 3064119"/>
              <a:gd name="connsiteY8" fmla="*/ 1432775 h 2905588"/>
              <a:gd name="connsiteX9" fmla="*/ 3057503 w 3064119"/>
              <a:gd name="connsiteY9" fmla="*/ 1474839 h 2905588"/>
              <a:gd name="connsiteX10" fmla="*/ 2636862 w 3064119"/>
              <a:gd name="connsiteY10" fmla="*/ 2068601 h 2905588"/>
              <a:gd name="connsiteX11" fmla="*/ 2636862 w 3064119"/>
              <a:gd name="connsiteY11" fmla="*/ 2870981 h 2905588"/>
              <a:gd name="connsiteX12" fmla="*/ 2600390 w 3064119"/>
              <a:gd name="connsiteY12" fmla="*/ 2905508 h 2905588"/>
              <a:gd name="connsiteX13" fmla="*/ 72893 w 3064119"/>
              <a:gd name="connsiteY13" fmla="*/ 2832564 h 2905588"/>
              <a:gd name="connsiteX14" fmla="*/ 2563918 w 3064119"/>
              <a:gd name="connsiteY14" fmla="*/ 2832564 h 2905588"/>
              <a:gd name="connsiteX15" fmla="*/ 2563918 w 3064119"/>
              <a:gd name="connsiteY15" fmla="*/ 2056200 h 2905588"/>
              <a:gd name="connsiteX16" fmla="*/ 2570483 w 3064119"/>
              <a:gd name="connsiteY16" fmla="*/ 2035047 h 2905588"/>
              <a:gd name="connsiteX17" fmla="*/ 2983830 w 3064119"/>
              <a:gd name="connsiteY17" fmla="*/ 1452713 h 2905588"/>
              <a:gd name="connsiteX18" fmla="*/ 2570483 w 3064119"/>
              <a:gd name="connsiteY18" fmla="*/ 870623 h 2905588"/>
              <a:gd name="connsiteX19" fmla="*/ 2563918 w 3064119"/>
              <a:gd name="connsiteY19" fmla="*/ 849469 h 2905588"/>
              <a:gd name="connsiteX20" fmla="*/ 2563918 w 3064119"/>
              <a:gd name="connsiteY20" fmla="*/ 72862 h 2905588"/>
              <a:gd name="connsiteX21" fmla="*/ 72893 w 3064119"/>
              <a:gd name="connsiteY21" fmla="*/ 72862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064119" h="2905588">
                <a:moveTo>
                  <a:pt x="2600390" y="2905508"/>
                </a:moveTo>
                <a:lnTo>
                  <a:pt x="36421" y="2905508"/>
                </a:lnTo>
                <a:cubicBezTo>
                  <a:pt x="16279" y="2905508"/>
                  <a:pt x="-51" y="2889168"/>
                  <a:pt x="-51" y="2869036"/>
                </a:cubicBezTo>
                <a:lnTo>
                  <a:pt x="-51" y="36391"/>
                </a:lnTo>
                <a:cubicBezTo>
                  <a:pt x="-51" y="16248"/>
                  <a:pt x="16279" y="-81"/>
                  <a:pt x="36421" y="-81"/>
                </a:cubicBezTo>
                <a:lnTo>
                  <a:pt x="2600390" y="-81"/>
                </a:lnTo>
                <a:cubicBezTo>
                  <a:pt x="2620522" y="-81"/>
                  <a:pt x="2636862" y="16248"/>
                  <a:pt x="2636862" y="36391"/>
                </a:cubicBezTo>
                <a:lnTo>
                  <a:pt x="2636862" y="838771"/>
                </a:lnTo>
                <a:lnTo>
                  <a:pt x="3057503" y="1432775"/>
                </a:lnTo>
                <a:cubicBezTo>
                  <a:pt x="3066257" y="1445419"/>
                  <a:pt x="3066257" y="1462196"/>
                  <a:pt x="3057503" y="1474839"/>
                </a:cubicBezTo>
                <a:lnTo>
                  <a:pt x="2636862" y="2068601"/>
                </a:lnTo>
                <a:lnTo>
                  <a:pt x="2636862" y="2870981"/>
                </a:lnTo>
                <a:cubicBezTo>
                  <a:pt x="2635816" y="2890360"/>
                  <a:pt x="2619793" y="2905532"/>
                  <a:pt x="2600390" y="2905508"/>
                </a:cubicBezTo>
                <a:close/>
                <a:moveTo>
                  <a:pt x="72893" y="2832564"/>
                </a:moveTo>
                <a:lnTo>
                  <a:pt x="2563918" y="2832564"/>
                </a:lnTo>
                <a:lnTo>
                  <a:pt x="2563918" y="2056200"/>
                </a:lnTo>
                <a:cubicBezTo>
                  <a:pt x="2563845" y="2048638"/>
                  <a:pt x="2566131" y="2041247"/>
                  <a:pt x="2570483" y="2035047"/>
                </a:cubicBezTo>
                <a:lnTo>
                  <a:pt x="2983830" y="1452713"/>
                </a:lnTo>
                <a:lnTo>
                  <a:pt x="2570483" y="870623"/>
                </a:lnTo>
                <a:cubicBezTo>
                  <a:pt x="2566179" y="864398"/>
                  <a:pt x="2563894" y="857031"/>
                  <a:pt x="2563918" y="849469"/>
                </a:cubicBezTo>
                <a:lnTo>
                  <a:pt x="2563918" y="72862"/>
                </a:lnTo>
                <a:lnTo>
                  <a:pt x="72893" y="72862"/>
                </a:ln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F5C67AA-A236-5ECA-420E-22EEB18319CD}"/>
              </a:ext>
            </a:extLst>
          </p:cNvPr>
          <p:cNvSpPr/>
          <p:nvPr/>
        </p:nvSpPr>
        <p:spPr>
          <a:xfrm>
            <a:off x="664199" y="2287561"/>
            <a:ext cx="2700885" cy="2575397"/>
          </a:xfrm>
          <a:custGeom>
            <a:avLst/>
            <a:gdLst>
              <a:gd name="connsiteX0" fmla="*/ 2288436 w 2700885"/>
              <a:gd name="connsiteY0" fmla="*/ 18155 h 2575397"/>
              <a:gd name="connsiteX1" fmla="*/ 2288436 w 2700885"/>
              <a:gd name="connsiteY1" fmla="*/ 731057 h 2575397"/>
              <a:gd name="connsiteX2" fmla="*/ 2682575 w 2700885"/>
              <a:gd name="connsiteY2" fmla="*/ 1287861 h 2575397"/>
              <a:gd name="connsiteX3" fmla="*/ 2288436 w 2700885"/>
              <a:gd name="connsiteY3" fmla="*/ 1844421 h 2575397"/>
              <a:gd name="connsiteX4" fmla="*/ 2288436 w 2700885"/>
              <a:gd name="connsiteY4" fmla="*/ 2557080 h 2575397"/>
              <a:gd name="connsiteX5" fmla="*/ 18186 w 2700885"/>
              <a:gd name="connsiteY5" fmla="*/ 2557080 h 2575397"/>
              <a:gd name="connsiteX6" fmla="*/ 18186 w 2700885"/>
              <a:gd name="connsiteY6" fmla="*/ 18155 h 2575397"/>
              <a:gd name="connsiteX7" fmla="*/ 2288436 w 2700885"/>
              <a:gd name="connsiteY7" fmla="*/ 18155 h 2575397"/>
              <a:gd name="connsiteX8" fmla="*/ 2288436 w 2700885"/>
              <a:gd name="connsiteY8" fmla="*/ -81 h 2575397"/>
              <a:gd name="connsiteX9" fmla="*/ 18186 w 2700885"/>
              <a:gd name="connsiteY9" fmla="*/ -81 h 2575397"/>
              <a:gd name="connsiteX10" fmla="*/ -49 w 2700885"/>
              <a:gd name="connsiteY10" fmla="*/ 18155 h 2575397"/>
              <a:gd name="connsiteX11" fmla="*/ -49 w 2700885"/>
              <a:gd name="connsiteY11" fmla="*/ 2557080 h 2575397"/>
              <a:gd name="connsiteX12" fmla="*/ 17698 w 2700885"/>
              <a:gd name="connsiteY12" fmla="*/ 2575316 h 2575397"/>
              <a:gd name="connsiteX13" fmla="*/ 18186 w 2700885"/>
              <a:gd name="connsiteY13" fmla="*/ 2575316 h 2575397"/>
              <a:gd name="connsiteX14" fmla="*/ 2288436 w 2700885"/>
              <a:gd name="connsiteY14" fmla="*/ 2575316 h 2575397"/>
              <a:gd name="connsiteX15" fmla="*/ 2306672 w 2700885"/>
              <a:gd name="connsiteY15" fmla="*/ 2557080 h 2575397"/>
              <a:gd name="connsiteX16" fmla="*/ 2306672 w 2700885"/>
              <a:gd name="connsiteY16" fmla="*/ 1850013 h 2575397"/>
              <a:gd name="connsiteX17" fmla="*/ 2697406 w 2700885"/>
              <a:gd name="connsiteY17" fmla="*/ 1298316 h 2575397"/>
              <a:gd name="connsiteX18" fmla="*/ 2697406 w 2700885"/>
              <a:gd name="connsiteY18" fmla="*/ 1277162 h 2575397"/>
              <a:gd name="connsiteX19" fmla="*/ 2306672 w 2700885"/>
              <a:gd name="connsiteY19" fmla="*/ 725222 h 2575397"/>
              <a:gd name="connsiteX20" fmla="*/ 2306672 w 2700885"/>
              <a:gd name="connsiteY20" fmla="*/ 18155 h 2575397"/>
              <a:gd name="connsiteX21" fmla="*/ 2288436 w 2700885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00885" h="2575397">
                <a:moveTo>
                  <a:pt x="2288436" y="18155"/>
                </a:moveTo>
                <a:lnTo>
                  <a:pt x="2288436" y="731057"/>
                </a:lnTo>
                <a:lnTo>
                  <a:pt x="2682575" y="1287861"/>
                </a:lnTo>
                <a:lnTo>
                  <a:pt x="2288436" y="1844421"/>
                </a:lnTo>
                <a:lnTo>
                  <a:pt x="2288436" y="2557080"/>
                </a:lnTo>
                <a:lnTo>
                  <a:pt x="18186" y="2557080"/>
                </a:lnTo>
                <a:lnTo>
                  <a:pt x="18186" y="18155"/>
                </a:lnTo>
                <a:lnTo>
                  <a:pt x="2288436" y="18155"/>
                </a:lnTo>
                <a:moveTo>
                  <a:pt x="2288436" y="-81"/>
                </a:moveTo>
                <a:lnTo>
                  <a:pt x="18186" y="-81"/>
                </a:lnTo>
                <a:cubicBezTo>
                  <a:pt x="8115" y="-81"/>
                  <a:pt x="-49" y="8084"/>
                  <a:pt x="-49" y="18155"/>
                </a:cubicBezTo>
                <a:lnTo>
                  <a:pt x="-49" y="2557080"/>
                </a:lnTo>
                <a:cubicBezTo>
                  <a:pt x="-186" y="2567025"/>
                  <a:pt x="7760" y="2575170"/>
                  <a:pt x="17698" y="2575316"/>
                </a:cubicBezTo>
                <a:cubicBezTo>
                  <a:pt x="17861" y="2575316"/>
                  <a:pt x="18024" y="2575316"/>
                  <a:pt x="18186" y="2575316"/>
                </a:cubicBezTo>
                <a:lnTo>
                  <a:pt x="2288436" y="2575316"/>
                </a:lnTo>
                <a:cubicBezTo>
                  <a:pt x="2298502" y="2575316"/>
                  <a:pt x="2306672" y="2567146"/>
                  <a:pt x="2306672" y="2557080"/>
                </a:cubicBezTo>
                <a:lnTo>
                  <a:pt x="2306672" y="1850013"/>
                </a:lnTo>
                <a:lnTo>
                  <a:pt x="2697406" y="1298316"/>
                </a:lnTo>
                <a:cubicBezTo>
                  <a:pt x="2701978" y="1292018"/>
                  <a:pt x="2701978" y="1283460"/>
                  <a:pt x="2697406" y="1277162"/>
                </a:cubicBezTo>
                <a:lnTo>
                  <a:pt x="2306672" y="725222"/>
                </a:lnTo>
                <a:lnTo>
                  <a:pt x="2306672" y="18155"/>
                </a:lnTo>
                <a:cubicBezTo>
                  <a:pt x="2306550" y="8137"/>
                  <a:pt x="2298454" y="50"/>
                  <a:pt x="2288436" y="-81"/>
                </a:cubicBez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317172F-CB2B-942D-31E8-0FF29BC86492}"/>
              </a:ext>
            </a:extLst>
          </p:cNvPr>
          <p:cNvSpPr/>
          <p:nvPr/>
        </p:nvSpPr>
        <p:spPr>
          <a:xfrm>
            <a:off x="9066440" y="2122465"/>
            <a:ext cx="2626457" cy="2905588"/>
          </a:xfrm>
          <a:custGeom>
            <a:avLst/>
            <a:gdLst>
              <a:gd name="connsiteX0" fmla="*/ 2589448 w 2626457"/>
              <a:gd name="connsiteY0" fmla="*/ 2905508 h 2905588"/>
              <a:gd name="connsiteX1" fmla="*/ 36421 w 2626457"/>
              <a:gd name="connsiteY1" fmla="*/ 2905508 h 2905588"/>
              <a:gd name="connsiteX2" fmla="*/ -51 w 2626457"/>
              <a:gd name="connsiteY2" fmla="*/ 2869036 h 2905588"/>
              <a:gd name="connsiteX3" fmla="*/ -51 w 2626457"/>
              <a:gd name="connsiteY3" fmla="*/ 2124768 h 2905588"/>
              <a:gd name="connsiteX4" fmla="*/ 6271 w 2626457"/>
              <a:gd name="connsiteY4" fmla="*/ 2104343 h 2905588"/>
              <a:gd name="connsiteX5" fmla="*/ 452929 w 2626457"/>
              <a:gd name="connsiteY5" fmla="*/ 1452956 h 2905588"/>
              <a:gd name="connsiteX6" fmla="*/ 6757 w 2626457"/>
              <a:gd name="connsiteY6" fmla="*/ 801326 h 2905588"/>
              <a:gd name="connsiteX7" fmla="*/ 436 w 2626457"/>
              <a:gd name="connsiteY7" fmla="*/ 780659 h 2905588"/>
              <a:gd name="connsiteX8" fmla="*/ 436 w 2626457"/>
              <a:gd name="connsiteY8" fmla="*/ 36391 h 2905588"/>
              <a:gd name="connsiteX9" fmla="*/ 36907 w 2626457"/>
              <a:gd name="connsiteY9" fmla="*/ -81 h 2905588"/>
              <a:gd name="connsiteX10" fmla="*/ 2589935 w 2626457"/>
              <a:gd name="connsiteY10" fmla="*/ -81 h 2905588"/>
              <a:gd name="connsiteX11" fmla="*/ 2626407 w 2626457"/>
              <a:gd name="connsiteY11" fmla="*/ 36391 h 2905588"/>
              <a:gd name="connsiteX12" fmla="*/ 2626407 w 2626457"/>
              <a:gd name="connsiteY12" fmla="*/ 2869036 h 2905588"/>
              <a:gd name="connsiteX13" fmla="*/ 2589935 w 2626457"/>
              <a:gd name="connsiteY13" fmla="*/ 2905508 h 2905588"/>
              <a:gd name="connsiteX14" fmla="*/ 2589448 w 2626457"/>
              <a:gd name="connsiteY14" fmla="*/ 2905508 h 2905588"/>
              <a:gd name="connsiteX15" fmla="*/ 73379 w 2626457"/>
              <a:gd name="connsiteY15" fmla="*/ 2832564 h 2905588"/>
              <a:gd name="connsiteX16" fmla="*/ 2553463 w 2626457"/>
              <a:gd name="connsiteY16" fmla="*/ 2832564 h 2905588"/>
              <a:gd name="connsiteX17" fmla="*/ 2553463 w 2626457"/>
              <a:gd name="connsiteY17" fmla="*/ 72862 h 2905588"/>
              <a:gd name="connsiteX18" fmla="*/ 73379 w 2626457"/>
              <a:gd name="connsiteY18" fmla="*/ 72862 h 2905588"/>
              <a:gd name="connsiteX19" fmla="*/ 73379 w 2626457"/>
              <a:gd name="connsiteY19" fmla="*/ 769474 h 2905588"/>
              <a:gd name="connsiteX20" fmla="*/ 527575 w 2626457"/>
              <a:gd name="connsiteY20" fmla="*/ 1432046 h 2905588"/>
              <a:gd name="connsiteX21" fmla="*/ 527575 w 2626457"/>
              <a:gd name="connsiteY21" fmla="*/ 1473381 h 2905588"/>
              <a:gd name="connsiteX22" fmla="*/ 73379 w 2626457"/>
              <a:gd name="connsiteY22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626457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2929" y="1452956"/>
                </a:lnTo>
                <a:lnTo>
                  <a:pt x="6757" y="801326"/>
                </a:lnTo>
                <a:cubicBezTo>
                  <a:pt x="2648" y="795223"/>
                  <a:pt x="436" y="788026"/>
                  <a:pt x="436" y="780659"/>
                </a:cubicBezTo>
                <a:lnTo>
                  <a:pt x="436" y="36391"/>
                </a:lnTo>
                <a:cubicBezTo>
                  <a:pt x="436" y="16248"/>
                  <a:pt x="16775" y="-81"/>
                  <a:pt x="36907" y="-81"/>
                </a:cubicBezTo>
                <a:lnTo>
                  <a:pt x="2589935" y="-81"/>
                </a:lnTo>
                <a:cubicBezTo>
                  <a:pt x="2610067" y="-81"/>
                  <a:pt x="2626407" y="16248"/>
                  <a:pt x="2626407" y="36391"/>
                </a:cubicBezTo>
                <a:lnTo>
                  <a:pt x="2626407" y="2869036"/>
                </a:lnTo>
                <a:cubicBezTo>
                  <a:pt x="2626407" y="2889168"/>
                  <a:pt x="2610091" y="2905508"/>
                  <a:pt x="2589935" y="2905508"/>
                </a:cubicBezTo>
                <a:cubicBezTo>
                  <a:pt x="2589764" y="2905508"/>
                  <a:pt x="2589619" y="2905508"/>
                  <a:pt x="2589448" y="2905508"/>
                </a:cubicBezTo>
                <a:close/>
                <a:moveTo>
                  <a:pt x="73379" y="2832564"/>
                </a:moveTo>
                <a:lnTo>
                  <a:pt x="2553463" y="2832564"/>
                </a:lnTo>
                <a:lnTo>
                  <a:pt x="2553463" y="72862"/>
                </a:lnTo>
                <a:lnTo>
                  <a:pt x="73379" y="72862"/>
                </a:lnTo>
                <a:lnTo>
                  <a:pt x="73379" y="769474"/>
                </a:lnTo>
                <a:lnTo>
                  <a:pt x="527575" y="1432046"/>
                </a:lnTo>
                <a:cubicBezTo>
                  <a:pt x="536061" y="1444519"/>
                  <a:pt x="536061" y="1460907"/>
                  <a:pt x="527575" y="1473381"/>
                </a:cubicBezTo>
                <a:lnTo>
                  <a:pt x="73379" y="2136195"/>
                </a:ln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3C9348-2E0C-52D7-1D8A-1B5DE9902DBE}"/>
              </a:ext>
            </a:extLst>
          </p:cNvPr>
          <p:cNvSpPr/>
          <p:nvPr/>
        </p:nvSpPr>
        <p:spPr>
          <a:xfrm>
            <a:off x="9232022" y="2287561"/>
            <a:ext cx="2295293" cy="2575397"/>
          </a:xfrm>
          <a:custGeom>
            <a:avLst/>
            <a:gdLst>
              <a:gd name="connsiteX0" fmla="*/ 2277006 w 2295293"/>
              <a:gd name="connsiteY0" fmla="*/ 18155 h 2575397"/>
              <a:gd name="connsiteX1" fmla="*/ 2277006 w 2295293"/>
              <a:gd name="connsiteY1" fmla="*/ 2557080 h 2575397"/>
              <a:gd name="connsiteX2" fmla="*/ 18185 w 2295293"/>
              <a:gd name="connsiteY2" fmla="*/ 2557080 h 2575397"/>
              <a:gd name="connsiteX3" fmla="*/ 18185 w 2295293"/>
              <a:gd name="connsiteY3" fmla="*/ 2005383 h 2575397"/>
              <a:gd name="connsiteX4" fmla="*/ 510068 w 2295293"/>
              <a:gd name="connsiteY4" fmla="*/ 1287861 h 2575397"/>
              <a:gd name="connsiteX5" fmla="*/ 18185 w 2295293"/>
              <a:gd name="connsiteY5" fmla="*/ 570338 h 2575397"/>
              <a:gd name="connsiteX6" fmla="*/ 18185 w 2295293"/>
              <a:gd name="connsiteY6" fmla="*/ 18155 h 2575397"/>
              <a:gd name="connsiteX7" fmla="*/ 2277006 w 2295293"/>
              <a:gd name="connsiteY7" fmla="*/ 18155 h 2575397"/>
              <a:gd name="connsiteX8" fmla="*/ 2277006 w 2295293"/>
              <a:gd name="connsiteY8" fmla="*/ -81 h 2575397"/>
              <a:gd name="connsiteX9" fmla="*/ 18185 w 2295293"/>
              <a:gd name="connsiteY9" fmla="*/ -81 h 2575397"/>
              <a:gd name="connsiteX10" fmla="*/ -51 w 2295293"/>
              <a:gd name="connsiteY10" fmla="*/ 18155 h 2575397"/>
              <a:gd name="connsiteX11" fmla="*/ -51 w 2295293"/>
              <a:gd name="connsiteY11" fmla="*/ 570095 h 2575397"/>
              <a:gd name="connsiteX12" fmla="*/ 3110 w 2295293"/>
              <a:gd name="connsiteY12" fmla="*/ 580307 h 2575397"/>
              <a:gd name="connsiteX13" fmla="*/ 487942 w 2295293"/>
              <a:gd name="connsiteY13" fmla="*/ 1287861 h 2575397"/>
              <a:gd name="connsiteX14" fmla="*/ 3110 w 2295293"/>
              <a:gd name="connsiteY14" fmla="*/ 1995171 h 2575397"/>
              <a:gd name="connsiteX15" fmla="*/ -51 w 2295293"/>
              <a:gd name="connsiteY15" fmla="*/ 2005626 h 2575397"/>
              <a:gd name="connsiteX16" fmla="*/ -51 w 2295293"/>
              <a:gd name="connsiteY16" fmla="*/ 2557080 h 2575397"/>
              <a:gd name="connsiteX17" fmla="*/ 18185 w 2295293"/>
              <a:gd name="connsiteY17" fmla="*/ 2575316 h 2575397"/>
              <a:gd name="connsiteX18" fmla="*/ 2277006 w 2295293"/>
              <a:gd name="connsiteY18" fmla="*/ 2575316 h 2575397"/>
              <a:gd name="connsiteX19" fmla="*/ 2295242 w 2295293"/>
              <a:gd name="connsiteY19" fmla="*/ 2557080 h 2575397"/>
              <a:gd name="connsiteX20" fmla="*/ 2295242 w 2295293"/>
              <a:gd name="connsiteY20" fmla="*/ 18155 h 2575397"/>
              <a:gd name="connsiteX21" fmla="*/ 2277006 w 2295293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95293" h="2575397">
                <a:moveTo>
                  <a:pt x="2277006" y="18155"/>
                </a:moveTo>
                <a:lnTo>
                  <a:pt x="2277006" y="2557080"/>
                </a:lnTo>
                <a:lnTo>
                  <a:pt x="18185" y="2557080"/>
                </a:lnTo>
                <a:lnTo>
                  <a:pt x="18185" y="2005383"/>
                </a:lnTo>
                <a:lnTo>
                  <a:pt x="510068" y="1287861"/>
                </a:lnTo>
                <a:lnTo>
                  <a:pt x="18185" y="570338"/>
                </a:lnTo>
                <a:lnTo>
                  <a:pt x="18185" y="18155"/>
                </a:lnTo>
                <a:lnTo>
                  <a:pt x="2277006" y="18155"/>
                </a:lnTo>
                <a:moveTo>
                  <a:pt x="2277006" y="-81"/>
                </a:moveTo>
                <a:lnTo>
                  <a:pt x="18185" y="-81"/>
                </a:lnTo>
                <a:cubicBezTo>
                  <a:pt x="8167" y="50"/>
                  <a:pt x="71" y="8137"/>
                  <a:pt x="-51" y="18155"/>
                </a:cubicBezTo>
                <a:lnTo>
                  <a:pt x="-51" y="570095"/>
                </a:lnTo>
                <a:cubicBezTo>
                  <a:pt x="-2" y="573742"/>
                  <a:pt x="1092" y="577292"/>
                  <a:pt x="3110" y="580307"/>
                </a:cubicBezTo>
                <a:lnTo>
                  <a:pt x="487942" y="1287861"/>
                </a:lnTo>
                <a:lnTo>
                  <a:pt x="3110" y="1995171"/>
                </a:lnTo>
                <a:cubicBezTo>
                  <a:pt x="1068" y="1998283"/>
                  <a:pt x="-27" y="2001906"/>
                  <a:pt x="-51" y="2005626"/>
                </a:cubicBezTo>
                <a:lnTo>
                  <a:pt x="-51" y="2557080"/>
                </a:lnTo>
                <a:cubicBezTo>
                  <a:pt x="-51" y="2567146"/>
                  <a:pt x="8119" y="2575316"/>
                  <a:pt x="18185" y="2575316"/>
                </a:cubicBezTo>
                <a:lnTo>
                  <a:pt x="2277006" y="2575316"/>
                </a:lnTo>
                <a:cubicBezTo>
                  <a:pt x="2287072" y="2575316"/>
                  <a:pt x="2295242" y="2567146"/>
                  <a:pt x="2295242" y="2557080"/>
                </a:cubicBezTo>
                <a:lnTo>
                  <a:pt x="2295242" y="18155"/>
                </a:lnTo>
                <a:cubicBezTo>
                  <a:pt x="2295121" y="8137"/>
                  <a:pt x="2287024" y="50"/>
                  <a:pt x="2277006" y="-81"/>
                </a:cubicBez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9EDB400-1456-C4D9-5F09-5D4AE4F28D6B}"/>
              </a:ext>
            </a:extLst>
          </p:cNvPr>
          <p:cNvSpPr/>
          <p:nvPr/>
        </p:nvSpPr>
        <p:spPr>
          <a:xfrm>
            <a:off x="3362068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15285E-F82F-6F90-544D-760D77F31200}"/>
              </a:ext>
            </a:extLst>
          </p:cNvPr>
          <p:cNvSpPr/>
          <p:nvPr/>
        </p:nvSpPr>
        <p:spPr>
          <a:xfrm>
            <a:off x="3528380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BE27F2A9-1785-DFB7-954C-2920D35BEE94}"/>
              </a:ext>
            </a:extLst>
          </p:cNvPr>
          <p:cNvSpPr/>
          <p:nvPr/>
        </p:nvSpPr>
        <p:spPr>
          <a:xfrm>
            <a:off x="6214254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2" name="Freeform: Shape 301">
            <a:extLst>
              <a:ext uri="{FF2B5EF4-FFF2-40B4-BE49-F238E27FC236}">
                <a16:creationId xmlns:a16="http://schemas.microsoft.com/office/drawing/2014/main" id="{C03FFC34-4227-BB10-FBF2-6E3F9781D1F3}"/>
              </a:ext>
            </a:extLst>
          </p:cNvPr>
          <p:cNvSpPr/>
          <p:nvPr/>
        </p:nvSpPr>
        <p:spPr>
          <a:xfrm>
            <a:off x="6380566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B0B3D01C-E0C0-AC2B-3226-297ED58604CA}"/>
              </a:ext>
            </a:extLst>
          </p:cNvPr>
          <p:cNvSpPr txBox="1"/>
          <p:nvPr/>
        </p:nvSpPr>
        <p:spPr>
          <a:xfrm>
            <a:off x="837157" y="3280068"/>
            <a:ext cx="21122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Reduced time to hire is achieved by using the reduced time delays in communication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85FC874F-12A1-CA14-CB10-8D0D31AAD624}"/>
              </a:ext>
            </a:extLst>
          </p:cNvPr>
          <p:cNvSpPr txBox="1"/>
          <p:nvPr/>
        </p:nvSpPr>
        <p:spPr>
          <a:xfrm>
            <a:off x="4061973" y="3280068"/>
            <a:ext cx="19042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Managers and recruitment specialists should be able to leverage a Talent Pool.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67D993C6-E1EF-1524-DADF-5E0A526112C2}"/>
              </a:ext>
            </a:extLst>
          </p:cNvPr>
          <p:cNvSpPr txBox="1"/>
          <p:nvPr/>
        </p:nvSpPr>
        <p:spPr>
          <a:xfrm>
            <a:off x="6929526" y="3280068"/>
            <a:ext cx="17513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Electronic candidate screening as part of the online application process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E4C1B0BB-4154-AAA1-8CBC-473AC98F60E2}"/>
              </a:ext>
            </a:extLst>
          </p:cNvPr>
          <p:cNvSpPr txBox="1"/>
          <p:nvPr/>
        </p:nvSpPr>
        <p:spPr>
          <a:xfrm>
            <a:off x="9766345" y="3280068"/>
            <a:ext cx="18175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latin typeface="Montserrat" panose="00000500000000000000" pitchFamily="2" charset="0"/>
              </a:rPr>
              <a:t>Manual processes need to be automated &amp; reduce the need for printed documentation.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6673F42E-B093-3B66-D96E-E1E9B660E543}"/>
              </a:ext>
            </a:extLst>
          </p:cNvPr>
          <p:cNvSpPr txBox="1"/>
          <p:nvPr/>
        </p:nvSpPr>
        <p:spPr>
          <a:xfrm>
            <a:off x="837157" y="2619747"/>
            <a:ext cx="1239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effectLst/>
                <a:latin typeface="Montserrat" panose="00000500000000000000" pitchFamily="2" charset="0"/>
              </a:rPr>
              <a:t>Time to Hire</a:t>
            </a:r>
            <a:endParaRPr lang="en-US" sz="1600" b="1" dirty="0">
              <a:latin typeface="Montserrat" panose="00000500000000000000" pitchFamily="2" charset="0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31440640-B663-0E46-C889-3B172F54AAEA}"/>
              </a:ext>
            </a:extLst>
          </p:cNvPr>
          <p:cNvSpPr txBox="1"/>
          <p:nvPr/>
        </p:nvSpPr>
        <p:spPr>
          <a:xfrm>
            <a:off x="4061973" y="2619747"/>
            <a:ext cx="13351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Cost Per Hire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6B1AFEE-15A4-85A2-4A56-3A927A382DF0}"/>
              </a:ext>
            </a:extLst>
          </p:cNvPr>
          <p:cNvSpPr txBox="1"/>
          <p:nvPr/>
        </p:nvSpPr>
        <p:spPr>
          <a:xfrm>
            <a:off x="6929526" y="2619747"/>
            <a:ext cx="1326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Candidate Quality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AB81F13B-A5AD-E812-90CB-CD8B9AD8EC3B}"/>
              </a:ext>
            </a:extLst>
          </p:cNvPr>
          <p:cNvSpPr txBox="1"/>
          <p:nvPr/>
        </p:nvSpPr>
        <p:spPr>
          <a:xfrm>
            <a:off x="9766345" y="2619747"/>
            <a:ext cx="1642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Recruitment Efficiency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DECC5E64-382B-AA74-FB40-6E26A3EB05A8}"/>
              </a:ext>
            </a:extLst>
          </p:cNvPr>
          <p:cNvSpPr txBox="1"/>
          <p:nvPr/>
        </p:nvSpPr>
        <p:spPr>
          <a:xfrm>
            <a:off x="0" y="64555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Recruitment Process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